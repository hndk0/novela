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AF6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514350" y="1228390"/>
            <a:ext cx="41102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OPEN SOURCE · GPL-3.0 · ANDROID 8.0+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14350" y="1517712"/>
            <a:ext cx="4000500" cy="80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8"/>
              </a:lnSpc>
              <a:buNone/>
            </a:pPr>
            <a:r>
              <a:rPr lang="en-US" sz="6188" b="1" spc="-186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Novel</a:t>
            </a:r>
            <a:pPr algn="l" indent="0" marL="0">
              <a:lnSpc>
                <a:spcPts val="5878"/>
              </a:lnSpc>
              <a:buNone/>
            </a:pPr>
            <a:r>
              <a:rPr lang="en-US" sz="6188" b="1" i="1" spc="-186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</a:t>
            </a:r>
            <a:endParaRPr lang="en-US" sz="6188" dirty="0"/>
          </a:p>
        </p:txBody>
      </p:sp>
      <p:sp>
        <p:nvSpPr>
          <p:cNvPr id="7" name="Text 3"/>
          <p:cNvSpPr/>
          <p:nvPr/>
        </p:nvSpPr>
        <p:spPr>
          <a:xfrm>
            <a:off x="514350" y="2421396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14350" y="2592846"/>
            <a:ext cx="371475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 &amp; open-source web novel reader for Android.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514350" y="3104294"/>
            <a:ext cx="40005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35+ sources · In-reader translation · TTS · Lua plugins · Material 3</a:t>
            </a:r>
            <a:endParaRPr lang="en-US" sz="844" dirty="0"/>
          </a:p>
        </p:txBody>
      </p:sp>
      <p:sp>
        <p:nvSpPr>
          <p:cNvPr id="10" name="Text 6"/>
          <p:cNvSpPr/>
          <p:nvPr/>
        </p:nvSpPr>
        <p:spPr>
          <a:xfrm>
            <a:off x="514350" y="3438550"/>
            <a:ext cx="922660" cy="228029"/>
          </a:xfrm>
          <a:prstGeom prst="roundRect">
            <a:avLst>
              <a:gd name="adj" fmla="val 4172923"/>
            </a:avLst>
          </a:prstGeom>
          <a:solidFill>
            <a:srgbClr val="F2EAD8"/>
          </a:solidFill>
          <a:ln w="7144">
            <a:solidFill>
              <a:srgbClr val="E1D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14350" y="3450766"/>
            <a:ext cx="92266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KOTLIN 2.0.21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494160" y="3438550"/>
            <a:ext cx="1143893" cy="228029"/>
          </a:xfrm>
          <a:prstGeom prst="roundRect">
            <a:avLst>
              <a:gd name="adj" fmla="val 4172923"/>
            </a:avLst>
          </a:prstGeom>
          <a:solidFill>
            <a:srgbClr val="F2EAD8"/>
          </a:solidFill>
          <a:ln w="7144">
            <a:solidFill>
              <a:srgbClr val="E1D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494160" y="3450766"/>
            <a:ext cx="114389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JETPACK COMPOSE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695203" y="3438550"/>
            <a:ext cx="788715" cy="228029"/>
          </a:xfrm>
          <a:prstGeom prst="roundRect">
            <a:avLst>
              <a:gd name="adj" fmla="val 4172923"/>
            </a:avLst>
          </a:prstGeom>
          <a:solidFill>
            <a:srgbClr val="F2EAD8"/>
          </a:solidFill>
          <a:ln w="7144">
            <a:solidFill>
              <a:srgbClr val="E1D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695203" y="3450766"/>
            <a:ext cx="78871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MATERIAL 3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14350" y="3699297"/>
            <a:ext cx="789161" cy="228029"/>
          </a:xfrm>
          <a:prstGeom prst="roundRect">
            <a:avLst>
              <a:gd name="adj" fmla="val 4172923"/>
            </a:avLst>
          </a:prstGeom>
          <a:solidFill>
            <a:srgbClr val="F2EAD8"/>
          </a:solidFill>
          <a:ln w="7144">
            <a:solidFill>
              <a:srgbClr val="E1D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14350" y="3711513"/>
            <a:ext cx="78916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ROOM 2.8.4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360661" y="3699297"/>
            <a:ext cx="663253" cy="228029"/>
          </a:xfrm>
          <a:prstGeom prst="roundRect">
            <a:avLst>
              <a:gd name="adj" fmla="val 4172923"/>
            </a:avLst>
          </a:prstGeom>
          <a:solidFill>
            <a:srgbClr val="F2EAD8"/>
          </a:solidFill>
          <a:ln w="7144">
            <a:solidFill>
              <a:srgbClr val="E1D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1360661" y="3711513"/>
            <a:ext cx="66325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HILT 2.52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14350" y="473630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685800" y="4729163"/>
            <a:ext cx="178366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7A72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github.com/Parasgaming122/NoveLA</a:t>
            </a:r>
            <a:endParaRPr lang="en-US" sz="675" dirty="0"/>
          </a:p>
        </p:txBody>
      </p:sp>
      <p:pic>
        <p:nvPicPr>
          <p:cNvPr id="22" name="Image 2" descr="/tmp/h2p-fit-1783952801712-rd09k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29200" y="0"/>
            <a:ext cx="4114800" cy="5143500"/>
          </a:xfrm>
          <a:prstGeom prst="roundRect">
            <a:avLst>
              <a:gd name="adj" fmla="val 2778"/>
            </a:avLst>
          </a:prstGeom>
          <a:solidFill>
            <a:srgbClr val="C8821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29200" y="0"/>
            <a:ext cx="7144" cy="5143500"/>
          </a:xfrm>
          <a:prstGeom prst="rect">
            <a:avLst/>
          </a:prstGeom>
          <a:solidFill>
            <a:srgbClr val="C8821A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14 —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75072"/>
            <a:ext cx="8521065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is NoveLA?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052252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266565"/>
            <a:ext cx="4706838" cy="1221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is a free, GPL-3.0 licensed Android application for reading web novels, light novels, and ranobe. Built natively in Kotlin with Jetpack Compose and Material 3, it brings a modern, offline-first reading experience to fans of online fiction — pulling content from 35+ sources, with first-class translation, text-to-speech, and a Lua-based plugin system that lets the community add new sources without app updates.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2526320"/>
            <a:ext cx="4706838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codebase is structured as 32 Gradle modules across four architectural layers, totaling roughly 54,000 lines of Kotlin. It runs on Android 8.0+ (API 26), targets the latest SDK 35, and is fully open to community contribution — bug fixes, new source parsers, and plugin submissions are all welcome.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1935" y="1270136"/>
            <a:ext cx="3401206" cy="664369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42670" y="1402296"/>
            <a:ext cx="12573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35+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585645" y="1459446"/>
            <a:ext cx="1335831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CATALOG SOURCES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5645" y="1605893"/>
            <a:ext cx="11340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Built-in + Lua plugins</a:t>
            </a:r>
            <a:endParaRPr lang="en-US" sz="731" dirty="0"/>
          </a:p>
        </p:txBody>
      </p:sp>
      <p:sp>
        <p:nvSpPr>
          <p:cNvPr id="11" name="Text 9"/>
          <p:cNvSpPr/>
          <p:nvPr/>
        </p:nvSpPr>
        <p:spPr>
          <a:xfrm>
            <a:off x="5481935" y="2041661"/>
            <a:ext cx="3401206" cy="664369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42670" y="2173821"/>
            <a:ext cx="12573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6585645" y="2230971"/>
            <a:ext cx="167629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GRADLE MODULES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5645" y="2377418"/>
            <a:ext cx="1397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3D3A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Across 4 architecture layers</a:t>
            </a:r>
            <a:endParaRPr lang="en-US" sz="731" dirty="0"/>
          </a:p>
        </p:txBody>
      </p:sp>
      <p:sp>
        <p:nvSpPr>
          <p:cNvPr id="15" name="Text 13"/>
          <p:cNvSpPr/>
          <p:nvPr/>
        </p:nvSpPr>
        <p:spPr>
          <a:xfrm>
            <a:off x="5481935" y="2813186"/>
            <a:ext cx="3401206" cy="664369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42670" y="2945346"/>
            <a:ext cx="12573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54K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6585645" y="3002496"/>
            <a:ext cx="213676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LINES OF KOTLIN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5645" y="3148943"/>
            <a:ext cx="182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3D3A3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390 source files · 100% open source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671513" y="4861322"/>
            <a:ext cx="761233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GITHUB.COM/PARASGAMING122/NOVELA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4350" y="48631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14 — FEATURES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75072"/>
            <a:ext cx="8521065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Feature Highlights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006487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922" y="1195797"/>
            <a:ext cx="2621756" cy="1711263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9050" dist="9525" dir="5400000">
              <a:srgbClr val="1B1A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8656" y="1342244"/>
            <a:ext cx="314325" cy="31432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1876" y="13854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547" dirty="0"/>
          </a:p>
        </p:txBody>
      </p:sp>
      <p:sp>
        <p:nvSpPr>
          <p:cNvPr id="8" name="Text 6"/>
          <p:cNvSpPr/>
          <p:nvPr/>
        </p:nvSpPr>
        <p:spPr>
          <a:xfrm>
            <a:off x="678656" y="1728006"/>
            <a:ext cx="241001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Global Multi-Source Search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78656" y="1970894"/>
            <a:ext cx="2300288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Search across all 35+ sources in parallel, or add any novel by URL. Results grouped by source for easy comparison.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61122" y="1195797"/>
            <a:ext cx="2621756" cy="1711263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9050" dist="9525" dir="5400000">
              <a:srgbClr val="1B1A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21856" y="1342244"/>
            <a:ext cx="314325" cy="31432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65076" y="13854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13" name="Text 11"/>
          <p:cNvSpPr/>
          <p:nvPr/>
        </p:nvSpPr>
        <p:spPr>
          <a:xfrm>
            <a:off x="3421856" y="1728006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In-Reader Translation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421856" y="1970894"/>
            <a:ext cx="2300288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backends including Google and Gemini. Parallel mode shows original + translated side by side, no app switching.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04322" y="1195797"/>
            <a:ext cx="2621756" cy="1711263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9050" dist="9525" dir="5400000">
              <a:srgbClr val="1B1A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65056" y="1342244"/>
            <a:ext cx="314325" cy="31432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08276" y="13854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6165056" y="1728006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Text-to-Speech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165056" y="1970894"/>
            <a:ext cx="2300288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Floating mini-player, background playback, speed/pitch control, Bluetooth support, multiple engine support, reading timer.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7922" y="3028504"/>
            <a:ext cx="2621756" cy="1711375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9050" dist="9525" dir="5400000">
              <a:srgbClr val="1B1A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8656" y="3174950"/>
            <a:ext cx="314325" cy="31432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1876" y="321817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678656" y="3560713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Local EPUB &amp; FB2 Library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78656" y="3803600"/>
            <a:ext cx="2300288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Import local EPUB and FB2 books with bulk import support. Custom fonts, text size, light/dark Material 3 themes.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61122" y="3028504"/>
            <a:ext cx="2621756" cy="1711375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9050" dist="9525" dir="5400000">
              <a:srgbClr val="1B1A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21856" y="3174950"/>
            <a:ext cx="314325" cy="31432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65076" y="321817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8" name="Text 26"/>
          <p:cNvSpPr/>
          <p:nvPr/>
        </p:nvSpPr>
        <p:spPr>
          <a:xfrm>
            <a:off x="3421856" y="3560713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Lua Plugin System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3421856" y="3803600"/>
            <a:ext cx="2300288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Lua-based source plugins installable directly in-app. Official repo: HnDK0/external-sources. Add new sources without app updates.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04322" y="3028504"/>
            <a:ext cx="2621756" cy="1711375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9050" dist="9525" dir="5400000">
              <a:srgbClr val="1B1A17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65056" y="3174950"/>
            <a:ext cx="314325" cy="31432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08276" y="321817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33" name="Text 31"/>
          <p:cNvSpPr/>
          <p:nvPr/>
        </p:nvSpPr>
        <p:spPr>
          <a:xfrm>
            <a:off x="6165056" y="3560713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Cloudflare Bypass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6165056" y="3803600"/>
            <a:ext cx="2300288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Automatic Cloudflare Turnstile bypass. Regex text cleanup to strip injected ads. Novel migration between sources.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4350" y="4854178"/>
            <a:ext cx="77694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FEATURES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14 — TRANSLATION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75072"/>
            <a:ext cx="862965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Four Translation Backends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006487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106500"/>
            <a:ext cx="714375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Multiple API keys are rotated round-robin on rate limits. Parallel mode displays original and translated text side by side. Novel-specific prompts customize translation behavior per book.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62807"/>
            <a:ext cx="1946672" cy="2278856"/>
          </a:xfrm>
          <a:prstGeom prst="roundRect">
            <a:avLst>
              <a:gd name="adj" fmla="val 391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694966"/>
            <a:ext cx="1653778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Google Translate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641509" y="1937260"/>
            <a:ext cx="715447" cy="184023"/>
          </a:xfrm>
          <a:prstGeom prst="roundRect">
            <a:avLst>
              <a:gd name="adj" fmla="val 5170807"/>
            </a:avLst>
          </a:prstGeom>
          <a:solidFill>
            <a:srgbClr val="C8821A"/>
          </a:solidFill>
          <a:ln w="7144">
            <a:solidFill>
              <a:srgbClr val="C882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4369" y="1947118"/>
            <a:ext cx="66972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ENHANCED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4369" y="2211437"/>
            <a:ext cx="1653778" cy="7144"/>
          </a:xfrm>
          <a:prstGeom prst="rect">
            <a:avLst/>
          </a:prstGeom>
          <a:solidFill>
            <a:srgbClr val="D9CF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4369" y="2304306"/>
            <a:ext cx="165377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4369" y="2436465"/>
            <a:ext cx="165377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664369" y="2668637"/>
            <a:ext cx="165377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KEY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4369" y="2800796"/>
            <a:ext cx="165377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required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664369" y="3277865"/>
            <a:ext cx="1653778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default. Uses the enhanced Google translate endpoint with better context handling.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1750" y="1562807"/>
            <a:ext cx="1946672" cy="2278856"/>
          </a:xfrm>
          <a:prstGeom prst="roundRect">
            <a:avLst>
              <a:gd name="adj" fmla="val 391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18197" y="1694966"/>
            <a:ext cx="1653778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Google Translate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2698020" y="1937260"/>
            <a:ext cx="544769" cy="184023"/>
          </a:xfrm>
          <a:prstGeom prst="roundRect">
            <a:avLst>
              <a:gd name="adj" fmla="val 5170807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18197" y="1947118"/>
            <a:ext cx="50441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SIMPLE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18197" y="2211437"/>
            <a:ext cx="1653778" cy="7144"/>
          </a:xfrm>
          <a:prstGeom prst="rect">
            <a:avLst/>
          </a:prstGeom>
          <a:solidFill>
            <a:srgbClr val="D9CF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18197" y="2304306"/>
            <a:ext cx="165377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18197" y="2436465"/>
            <a:ext cx="165377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2718197" y="2668637"/>
            <a:ext cx="165377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KEY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18197" y="2800796"/>
            <a:ext cx="165377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required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2718197" y="3277865"/>
            <a:ext cx="1653778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Lightweight classic endpoint. Faster, less context-aware. Good fallback.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25578" y="1562807"/>
            <a:ext cx="1946672" cy="2278856"/>
          </a:xfrm>
          <a:prstGeom prst="roundRect">
            <a:avLst>
              <a:gd name="adj" fmla="val 391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72025" y="1694966"/>
            <a:ext cx="1653778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Google Gemini</a:t>
            </a:r>
            <a:endParaRPr lang="en-US" sz="1238" dirty="0"/>
          </a:p>
        </p:txBody>
      </p:sp>
      <p:sp>
        <p:nvSpPr>
          <p:cNvPr id="28" name="Text 26"/>
          <p:cNvSpPr/>
          <p:nvPr/>
        </p:nvSpPr>
        <p:spPr>
          <a:xfrm>
            <a:off x="4758224" y="1937260"/>
            <a:ext cx="372622" cy="184023"/>
          </a:xfrm>
          <a:prstGeom prst="roundRect">
            <a:avLst>
              <a:gd name="adj" fmla="val 5170807"/>
            </a:avLst>
          </a:prstGeom>
          <a:solidFill>
            <a:srgbClr val="F2EAD8"/>
          </a:solidFill>
          <a:ln w="7144">
            <a:solidFill>
              <a:srgbClr val="E1D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72025" y="1947118"/>
            <a:ext cx="34502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8F5B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72025" y="2211437"/>
            <a:ext cx="1653778" cy="7144"/>
          </a:xfrm>
          <a:prstGeom prst="rect">
            <a:avLst/>
          </a:prstGeom>
          <a:solidFill>
            <a:srgbClr val="D9CF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72025" y="2304306"/>
            <a:ext cx="165377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72025" y="2436465"/>
            <a:ext cx="165377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 tier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4772025" y="2668637"/>
            <a:ext cx="165377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KEY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72025" y="2800796"/>
            <a:ext cx="165377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Required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4772025" y="3277865"/>
            <a:ext cx="1653778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LLM-powered. Higher quality literary translation. Subject to Gemini free-tier quotas.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9406" y="1562807"/>
            <a:ext cx="1946672" cy="2278856"/>
          </a:xfrm>
          <a:prstGeom prst="roundRect">
            <a:avLst>
              <a:gd name="adj" fmla="val 391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25853" y="1694966"/>
            <a:ext cx="1653778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OpenAI-compatible</a:t>
            </a:r>
            <a:endParaRPr lang="en-US" sz="1238" dirty="0"/>
          </a:p>
        </p:txBody>
      </p:sp>
      <p:sp>
        <p:nvSpPr>
          <p:cNvPr id="38" name="Text 36"/>
          <p:cNvSpPr/>
          <p:nvPr/>
        </p:nvSpPr>
        <p:spPr>
          <a:xfrm>
            <a:off x="6802993" y="1937260"/>
            <a:ext cx="645014" cy="184023"/>
          </a:xfrm>
          <a:prstGeom prst="roundRect">
            <a:avLst>
              <a:gd name="adj" fmla="val 5170807"/>
            </a:avLst>
          </a:prstGeom>
          <a:solidFill>
            <a:srgbClr val="F2EAD8"/>
          </a:solidFill>
          <a:ln w="7144">
            <a:solidFill>
              <a:srgbClr val="E1D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10398" y="1947118"/>
            <a:ext cx="63020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8F5B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FLEXIBLE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25853" y="2211437"/>
            <a:ext cx="1653778" cy="7144"/>
          </a:xfrm>
          <a:prstGeom prst="rect">
            <a:avLst/>
          </a:prstGeom>
          <a:solidFill>
            <a:srgbClr val="D9CF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25853" y="2304306"/>
            <a:ext cx="165377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25853" y="2436465"/>
            <a:ext cx="165377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Varies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6825853" y="2668637"/>
            <a:ext cx="1653778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KEY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25853" y="2800796"/>
            <a:ext cx="165377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Required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6825853" y="3133985"/>
            <a:ext cx="1653778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Accepts OpenAI, OpenRouter, DeepSeek, Ollama, Mistral, and any compatible endpoint. Most flexible.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7922" y="3948819"/>
            <a:ext cx="8108156" cy="364331"/>
          </a:xfrm>
          <a:prstGeom prst="roundRect">
            <a:avLst>
              <a:gd name="adj" fmla="val 20915"/>
            </a:avLst>
          </a:prstGeom>
          <a:solidFill>
            <a:srgbClr val="F2EAD8"/>
          </a:solidFill>
          <a:ln w="7144">
            <a:solidFill>
              <a:srgbClr val="E1D4B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50081" y="405240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48" name="Text 46"/>
          <p:cNvSpPr/>
          <p:nvPr/>
        </p:nvSpPr>
        <p:spPr>
          <a:xfrm>
            <a:off x="892969" y="4061333"/>
            <a:ext cx="7600950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Parallel mode shows original and translated text side by side — no copy-paste, no app switching.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4350" y="4854178"/>
            <a:ext cx="77694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TRANSLATION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14 — EXTENSIBILITY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75072"/>
            <a:ext cx="8521065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Lua-Based Plugin System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006487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177937"/>
            <a:ext cx="3929063" cy="942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supports external Lua-based source plugins installable directly from within the app. The plugin runtime is powered by LuaJ 3.0.1, with YAML configuration via SnakeYAML 2.6. Sources are defined as declarative configuration — HTML selectors, JSON API mappings, pagination rules, filters — and the scraper engine handles the rest.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514350" y="2147701"/>
            <a:ext cx="3929063" cy="526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means the community can add new sources without waiting for app updates. The official plugin repository is HnDK0/external-sources, but any compatible Git URL 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2721992"/>
            <a:ext cx="214313" cy="214313"/>
          </a:xfrm>
          <a:prstGeom prst="ellipse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721992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8675" y="2761617"/>
            <a:ext cx="3614738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Finder → Extensions in the app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4350" y="3007742"/>
            <a:ext cx="214313" cy="214313"/>
          </a:xfrm>
          <a:prstGeom prst="ellipse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350" y="3007742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8675" y="3047367"/>
            <a:ext cx="3614738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 the ⚙️ settings icon top-right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350" y="3293492"/>
            <a:ext cx="214313" cy="214313"/>
          </a:xfrm>
          <a:prstGeom prst="ellipse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4350" y="3293492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8675" y="3333117"/>
            <a:ext cx="3614738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Paste the plugin repo URL and confirm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4350" y="3622104"/>
            <a:ext cx="3929063" cy="308521"/>
          </a:xfrm>
          <a:prstGeom prst="roundRect">
            <a:avLst>
              <a:gd name="adj" fmla="val 18524"/>
            </a:avLst>
          </a:prstGeom>
          <a:solidFill>
            <a:srgbClr val="1B1A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350" y="3622104"/>
            <a:ext cx="3929063" cy="394907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plugin_repo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E8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B5D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https://github.com/HnDK0/external-sources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04159" y="1181509"/>
            <a:ext cx="3921919" cy="1378744"/>
          </a:xfrm>
          <a:prstGeom prst="roundRect">
            <a:avLst>
              <a:gd name="adj" fmla="val 5527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0" descr="/tmp/h2p-fit-1783952800734-roxc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0594" y="1227944"/>
            <a:ext cx="3829050" cy="128587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700588" y="2620975"/>
            <a:ext cx="44434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PLUGIN REPO BROWSER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04159" y="2842431"/>
            <a:ext cx="3921919" cy="1378744"/>
          </a:xfrm>
          <a:prstGeom prst="roundRect">
            <a:avLst>
              <a:gd name="adj" fmla="val 5527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1" descr="/tmp/h2p-fit-1783952800736-u904i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594" y="2888866"/>
            <a:ext cx="3829050" cy="128587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700588" y="4281897"/>
            <a:ext cx="44434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INSTALLED PLUGINS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14350" y="4854178"/>
            <a:ext cx="77694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PLUGINS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14 —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60784"/>
            <a:ext cx="862965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25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Layered Module Architecture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962174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047899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32 Gradle modules across 4 strict layers. Dependencies flow downward only — upper layers may depend on lower, never the reverse.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17922" y="1306413"/>
            <a:ext cx="8108156" cy="435769"/>
          </a:xfrm>
          <a:prstGeom prst="roundRect">
            <a:avLst>
              <a:gd name="adj" fmla="val 17486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309985"/>
            <a:ext cx="657225" cy="428625"/>
          </a:xfrm>
          <a:prstGeom prst="rect">
            <a:avLst/>
          </a:prstGeom>
          <a:solidFill>
            <a:srgbClr val="1B1A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309985"/>
            <a:ext cx="6572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84446" y="1363263"/>
            <a:ext cx="656287" cy="322069"/>
          </a:xfrm>
          <a:prstGeom prst="roundRect">
            <a:avLst>
              <a:gd name="adj" fmla="val 14787"/>
            </a:avLst>
          </a:prstGeom>
          <a:solidFill>
            <a:srgbClr val="C8821A"/>
          </a:solidFill>
          <a:ln w="7144">
            <a:solidFill>
              <a:srgbClr val="C882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07306" y="1376065"/>
            <a:ext cx="610567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93419" y="174575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517922" y="1906488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494" y="1910060"/>
            <a:ext cx="657225" cy="614363"/>
          </a:xfrm>
          <a:prstGeom prst="rect">
            <a:avLst/>
          </a:prstGeom>
          <a:solidFill>
            <a:srgbClr val="8F5B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1494" y="1910060"/>
            <a:ext cx="657225" cy="61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07306" y="1961552"/>
            <a:ext cx="1402966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07306" y="1974354"/>
            <a:ext cx="14029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53134" y="1961552"/>
            <a:ext cx="1403077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53134" y="1974354"/>
            <a:ext cx="14030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LIBRARYEXPLORER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99074" y="1961552"/>
            <a:ext cx="1402966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99074" y="1974354"/>
            <a:ext cx="14029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CATALOGEXPLORER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44902" y="1961552"/>
            <a:ext cx="1403077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44902" y="1974354"/>
            <a:ext cx="14030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SOURCEEXPLORER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90842" y="1961552"/>
            <a:ext cx="1403077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90842" y="1974354"/>
            <a:ext cx="14030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CHAPTERSLIST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07306" y="2229443"/>
            <a:ext cx="1402966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07306" y="2242245"/>
            <a:ext cx="14029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GLOBALSOURCESEARCH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53134" y="2229443"/>
            <a:ext cx="1403077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753134" y="2242245"/>
            <a:ext cx="14030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EXTENSIONS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99074" y="2229443"/>
            <a:ext cx="1402966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99074" y="2242245"/>
            <a:ext cx="14029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DATABASEEXPLORER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44902" y="2229443"/>
            <a:ext cx="1403077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44902" y="2242245"/>
            <a:ext cx="14030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SETTINGS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90842" y="2229443"/>
            <a:ext cx="1403077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90842" y="2242245"/>
            <a:ext cx="14030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WEBVIEW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93419" y="253156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547" dirty="0"/>
          </a:p>
        </p:txBody>
      </p:sp>
      <p:sp>
        <p:nvSpPr>
          <p:cNvPr id="36" name="Text 34"/>
          <p:cNvSpPr/>
          <p:nvPr/>
        </p:nvSpPr>
        <p:spPr>
          <a:xfrm>
            <a:off x="517922" y="2692301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1494" y="2695873"/>
            <a:ext cx="657225" cy="614363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1494" y="2695873"/>
            <a:ext cx="657225" cy="61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307306" y="2747365"/>
            <a:ext cx="1161976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307306" y="2760166"/>
            <a:ext cx="116197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LOCAL_DATABASE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12144" y="2747365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512144" y="2760166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TEXT_TRANSLATOR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717094" y="2747365"/>
            <a:ext cx="1161976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717094" y="2760166"/>
            <a:ext cx="116197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TEXT_TO_SPEECH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21932" y="2747365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21932" y="2760166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BACKUP_RESTORE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26882" y="2747365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26882" y="2760166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BACKUP_CREATE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31832" y="2747365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331832" y="2760166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EPUB_PARSER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307306" y="3015255"/>
            <a:ext cx="1161976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307306" y="3028057"/>
            <a:ext cx="116197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EPUB_IMPORTER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2144" y="3015255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512144" y="3028057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NOVEL_MIGRATION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717094" y="3015255"/>
            <a:ext cx="1161976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717094" y="3028057"/>
            <a:ext cx="116197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LOCAL_SOURCE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21932" y="3015255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921932" y="3028057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APPLICATION_WORKERS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26882" y="3015255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126882" y="3028057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ALGORITHMS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31832" y="3015255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2EAD8"/>
          </a:solidFill>
          <a:ln w="7144">
            <a:solidFill>
              <a:srgbClr val="E8DCC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331832" y="3028057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STRINGS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493419" y="331737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547" dirty="0"/>
          </a:p>
        </p:txBody>
      </p:sp>
      <p:sp>
        <p:nvSpPr>
          <p:cNvPr id="64" name="Text 62"/>
          <p:cNvSpPr/>
          <p:nvPr/>
        </p:nvSpPr>
        <p:spPr>
          <a:xfrm>
            <a:off x="517922" y="3478113"/>
            <a:ext cx="8108156" cy="435769"/>
          </a:xfrm>
          <a:prstGeom prst="roundRect">
            <a:avLst>
              <a:gd name="adj" fmla="val 17486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21494" y="3481685"/>
            <a:ext cx="657225" cy="428625"/>
          </a:xfrm>
          <a:prstGeom prst="rect">
            <a:avLst/>
          </a:prstGeom>
          <a:solidFill>
            <a:srgbClr val="7A72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21494" y="3481685"/>
            <a:ext cx="6572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307306" y="3574254"/>
            <a:ext cx="1161976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C882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307306" y="3587055"/>
            <a:ext cx="116197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8F5B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512144" y="3574254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C882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2512144" y="3587055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8F5B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COREUI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717094" y="3574254"/>
            <a:ext cx="1161976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C882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3717094" y="3587055"/>
            <a:ext cx="116197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8F5B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NETWORKING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921932" y="3574254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C882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921932" y="3587055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8F5B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SCRAPER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126882" y="3574254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C882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6126882" y="3587055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8F5B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331832" y="3574254"/>
            <a:ext cx="1162087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C8821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7331832" y="3587055"/>
            <a:ext cx="116208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8F5B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NAVIGATION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157801" y="3978176"/>
            <a:ext cx="2468277" cy="196453"/>
          </a:xfrm>
          <a:prstGeom prst="roundRect">
            <a:avLst>
              <a:gd name="adj" fmla="val 19394"/>
            </a:avLst>
          </a:prstGeom>
          <a:solidFill>
            <a:srgbClr val="F2EAD8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6154229" y="3974604"/>
            <a:ext cx="2475421" cy="284295"/>
          </a:xfrm>
          <a:prstGeom prst="rect">
            <a:avLst/>
          </a:prstGeom>
          <a:noFill/>
          <a:ln/>
        </p:spPr>
        <p:txBody>
          <a:bodyPr wrap="square" lIns="71438" tIns="35719" rIns="71438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7A72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build-logic/ — 3 convention plugins (off-diagram)</a:t>
            </a:r>
            <a:endParaRPr lang="en-US" sz="619" dirty="0"/>
          </a:p>
        </p:txBody>
      </p:sp>
      <p:sp>
        <p:nvSpPr>
          <p:cNvPr id="81" name="Text 79"/>
          <p:cNvSpPr/>
          <p:nvPr/>
        </p:nvSpPr>
        <p:spPr>
          <a:xfrm>
            <a:off x="671513" y="4861322"/>
            <a:ext cx="761233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ARCHITECTURE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4350" y="48631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83" name="Text 81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14 — MODULES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60784"/>
            <a:ext cx="8521065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25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Module Breakdown by Layer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962174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147911"/>
            <a:ext cx="46366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PER LAYER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487239"/>
            <a:ext cx="9414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43013" y="1444377"/>
            <a:ext cx="2807494" cy="214313"/>
          </a:xfrm>
          <a:prstGeom prst="roundRect">
            <a:avLst>
              <a:gd name="adj" fmla="val 17778"/>
            </a:avLst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43013" y="1444377"/>
            <a:ext cx="2807494" cy="214313"/>
          </a:xfrm>
          <a:prstGeom prst="roundRect">
            <a:avLst>
              <a:gd name="adj" fmla="val 17778"/>
            </a:avLst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68171" y="1455093"/>
            <a:ext cx="23315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2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514350" y="1958727"/>
            <a:ext cx="9414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43013" y="1915864"/>
            <a:ext cx="2807494" cy="214313"/>
          </a:xfrm>
          <a:prstGeom prst="roundRect">
            <a:avLst>
              <a:gd name="adj" fmla="val 17778"/>
            </a:avLst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43013" y="1915864"/>
            <a:ext cx="2338574" cy="214313"/>
          </a:xfrm>
          <a:prstGeom prst="roundRect">
            <a:avLst>
              <a:gd name="adj" fmla="val 17778"/>
            </a:avLst>
          </a:prstGeom>
          <a:solidFill>
            <a:srgbClr val="E6A6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99251" y="1926580"/>
            <a:ext cx="23315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2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514350" y="2430214"/>
            <a:ext cx="1005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43013" y="2387352"/>
            <a:ext cx="2807494" cy="214313"/>
          </a:xfrm>
          <a:prstGeom prst="roundRect">
            <a:avLst>
              <a:gd name="adj" fmla="val 17778"/>
            </a:avLst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20153" y="2374550"/>
            <a:ext cx="1449467" cy="239916"/>
          </a:xfrm>
          <a:prstGeom prst="roundRect">
            <a:avLst>
              <a:gd name="adj" fmla="val 15881"/>
            </a:avLst>
          </a:prstGeom>
          <a:solidFill>
            <a:srgbClr val="8F5B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57182" y="2398068"/>
            <a:ext cx="13908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2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514350" y="2901702"/>
            <a:ext cx="1005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43013" y="2858839"/>
            <a:ext cx="2807494" cy="214313"/>
          </a:xfrm>
          <a:prstGeom prst="roundRect">
            <a:avLst>
              <a:gd name="adj" fmla="val 17778"/>
            </a:avLst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32040" y="2846038"/>
            <a:ext cx="254899" cy="239916"/>
          </a:xfrm>
          <a:prstGeom prst="roundRect">
            <a:avLst>
              <a:gd name="adj" fmla="val 15881"/>
            </a:avLst>
          </a:prstGeom>
          <a:solidFill>
            <a:srgbClr val="1B1A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86388" y="2869555"/>
            <a:ext cx="13908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2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013" dirty="0"/>
          </a:p>
        </p:txBody>
      </p:sp>
      <p:sp>
        <p:nvSpPr>
          <p:cNvPr id="22" name="Shape 20"/>
          <p:cNvSpPr/>
          <p:nvPr/>
        </p:nvSpPr>
        <p:spPr>
          <a:xfrm>
            <a:off x="514350" y="3355330"/>
            <a:ext cx="3536156" cy="0"/>
          </a:xfrm>
          <a:prstGeom prst="line">
            <a:avLst/>
          </a:prstGeom>
          <a:noFill/>
          <a:ln w="7144">
            <a:solidFill>
              <a:srgbClr val="D9CF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350" y="3487489"/>
            <a:ext cx="3536156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spc="-16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 Gradle Modules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14350" y="3816102"/>
            <a:ext cx="364588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7A72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+ 3 build-logic convention plugins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11253" y="1151483"/>
            <a:ext cx="2103834" cy="1740619"/>
          </a:xfrm>
          <a:prstGeom prst="roundRect">
            <a:avLst>
              <a:gd name="adj" fmla="val 3283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29125" y="1269355"/>
            <a:ext cx="186809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0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Tooling (12)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4429125" y="1505099"/>
            <a:ext cx="1868091" cy="5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Persistence, TTS, translation, backup, EPUB parsing, novel migration, background workers. Pure logic, no UI.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22244" y="1151483"/>
            <a:ext cx="2103834" cy="1740619"/>
          </a:xfrm>
          <a:prstGeom prst="roundRect">
            <a:avLst>
              <a:gd name="adj" fmla="val 3283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40116" y="1269355"/>
            <a:ext cx="186809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0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Features (10)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6640116" y="1505099"/>
            <a:ext cx="1868091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module per user-facing screen. Each owns its Activity, ViewModel, Composables, and state. Independently testable.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11253" y="2999259"/>
            <a:ext cx="2103834" cy="1740619"/>
          </a:xfrm>
          <a:prstGeom prst="roundRect">
            <a:avLst>
              <a:gd name="adj" fmla="val 3283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429125" y="3117131"/>
            <a:ext cx="186809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0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Core (6)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4429125" y="3352874"/>
            <a:ext cx="1868091" cy="5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Shared foundation: app context, preferences, models, navigation, networking client, the scraper engine itself.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22244" y="2999259"/>
            <a:ext cx="2103834" cy="1740619"/>
          </a:xfrm>
          <a:prstGeom prst="roundRect">
            <a:avLst>
              <a:gd name="adj" fmla="val 3283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640116" y="3117131"/>
            <a:ext cx="186809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10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App (1)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6640116" y="3352874"/>
            <a:ext cx="1868091" cy="5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thin application shell. Wires Hilt graph, hosts MainActivity, glues all feature modules together via navigation.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1513" y="4861322"/>
            <a:ext cx="761233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MODULES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4350" y="48631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39" name="Text 37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14 — TECH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60784"/>
            <a:ext cx="8521065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25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Technology Stack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962174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047899"/>
            <a:ext cx="7500938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modern, fully-native Android stack — Kotlin-first, Compose-driven, with carefully chosen libraries for networking, persistence, scraping, and extensibility.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489918"/>
            <a:ext cx="2631244" cy="1218009"/>
          </a:xfrm>
          <a:prstGeom prst="roundRect">
            <a:avLst>
              <a:gd name="adj" fmla="val 6256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0081" y="1607790"/>
            <a:ext cx="257175" cy="25717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5084" y="163279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992981" y="1665610"/>
            <a:ext cx="2024025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spc="-10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Language &amp; Runtime</a:t>
            </a:r>
            <a:endParaRPr lang="en-US" sz="1013" dirty="0"/>
          </a:p>
        </p:txBody>
      </p:sp>
      <p:sp>
        <p:nvSpPr>
          <p:cNvPr id="10" name="Shape 8"/>
          <p:cNvSpPr/>
          <p:nvPr/>
        </p:nvSpPr>
        <p:spPr>
          <a:xfrm>
            <a:off x="650081" y="2086421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11" name="Text 9"/>
          <p:cNvSpPr/>
          <p:nvPr/>
        </p:nvSpPr>
        <p:spPr>
          <a:xfrm>
            <a:off x="650081" y="1936403"/>
            <a:ext cx="82086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Kotlin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71041" y="1943546"/>
            <a:ext cx="3409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2.0.21</a:t>
            </a:r>
            <a:endParaRPr lang="en-US" sz="619" dirty="0"/>
          </a:p>
        </p:txBody>
      </p:sp>
      <p:sp>
        <p:nvSpPr>
          <p:cNvPr id="13" name="Shape 11"/>
          <p:cNvSpPr/>
          <p:nvPr/>
        </p:nvSpPr>
        <p:spPr>
          <a:xfrm>
            <a:off x="1883494" y="2086421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14" name="Text 12"/>
          <p:cNvSpPr/>
          <p:nvPr/>
        </p:nvSpPr>
        <p:spPr>
          <a:xfrm>
            <a:off x="1883494" y="1936403"/>
            <a:ext cx="8683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Coroutines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56975" y="1943546"/>
            <a:ext cx="2834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1.9.0</a:t>
            </a:r>
            <a:endParaRPr lang="en-US" sz="619" dirty="0"/>
          </a:p>
        </p:txBody>
      </p:sp>
      <p:sp>
        <p:nvSpPr>
          <p:cNvPr id="16" name="Shape 14"/>
          <p:cNvSpPr/>
          <p:nvPr/>
        </p:nvSpPr>
        <p:spPr>
          <a:xfrm>
            <a:off x="650081" y="2390031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17" name="Text 15"/>
          <p:cNvSpPr/>
          <p:nvPr/>
        </p:nvSpPr>
        <p:spPr>
          <a:xfrm>
            <a:off x="650081" y="2132856"/>
            <a:ext cx="489793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68450" y="2140000"/>
            <a:ext cx="6150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2.0.21-1.0.28</a:t>
            </a:r>
            <a:endParaRPr lang="en-US" sz="619" dirty="0"/>
          </a:p>
        </p:txBody>
      </p:sp>
      <p:sp>
        <p:nvSpPr>
          <p:cNvPr id="19" name="Shape 17"/>
          <p:cNvSpPr/>
          <p:nvPr/>
        </p:nvSpPr>
        <p:spPr>
          <a:xfrm>
            <a:off x="1883494" y="2390031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20" name="Text 18"/>
          <p:cNvSpPr/>
          <p:nvPr/>
        </p:nvSpPr>
        <p:spPr>
          <a:xfrm>
            <a:off x="1883494" y="2132856"/>
            <a:ext cx="8683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kotlinx-serialization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56975" y="2140000"/>
            <a:ext cx="2834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1.7.3</a:t>
            </a:r>
            <a:endParaRPr lang="en-US" sz="619" dirty="0"/>
          </a:p>
        </p:txBody>
      </p:sp>
      <p:sp>
        <p:nvSpPr>
          <p:cNvPr id="22" name="Shape 20"/>
          <p:cNvSpPr/>
          <p:nvPr/>
        </p:nvSpPr>
        <p:spPr>
          <a:xfrm>
            <a:off x="650081" y="2586484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23" name="Text 21"/>
          <p:cNvSpPr/>
          <p:nvPr/>
        </p:nvSpPr>
        <p:spPr>
          <a:xfrm>
            <a:off x="650081" y="2436465"/>
            <a:ext cx="10101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Java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664913" y="2443609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3256322" y="1489918"/>
            <a:ext cx="2631244" cy="1218009"/>
          </a:xfrm>
          <a:prstGeom prst="roundRect">
            <a:avLst>
              <a:gd name="adj" fmla="val 6256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88482" y="1607790"/>
            <a:ext cx="257175" cy="25717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13485" y="163279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3731382" y="1665610"/>
            <a:ext cx="2024025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spc="-10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UI Layer</a:t>
            </a:r>
            <a:endParaRPr lang="en-US" sz="1013" dirty="0"/>
          </a:p>
        </p:txBody>
      </p:sp>
      <p:sp>
        <p:nvSpPr>
          <p:cNvPr id="29" name="Shape 27"/>
          <p:cNvSpPr/>
          <p:nvPr/>
        </p:nvSpPr>
        <p:spPr>
          <a:xfrm>
            <a:off x="3388482" y="2086421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30" name="Text 28"/>
          <p:cNvSpPr/>
          <p:nvPr/>
        </p:nvSpPr>
        <p:spPr>
          <a:xfrm>
            <a:off x="3388482" y="1936403"/>
            <a:ext cx="107881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Jetpack Compose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74555" y="1943546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88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21895" y="2086421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33" name="Text 31"/>
          <p:cNvSpPr/>
          <p:nvPr/>
        </p:nvSpPr>
        <p:spPr>
          <a:xfrm>
            <a:off x="4621895" y="1936403"/>
            <a:ext cx="8683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Material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95375" y="1943546"/>
            <a:ext cx="2834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1.3.1</a:t>
            </a:r>
            <a:endParaRPr lang="en-US" sz="619" dirty="0"/>
          </a:p>
        </p:txBody>
      </p:sp>
      <p:sp>
        <p:nvSpPr>
          <p:cNvPr id="35" name="Shape 33"/>
          <p:cNvSpPr/>
          <p:nvPr/>
        </p:nvSpPr>
        <p:spPr>
          <a:xfrm>
            <a:off x="3388482" y="2390031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36" name="Text 34"/>
          <p:cNvSpPr/>
          <p:nvPr/>
        </p:nvSpPr>
        <p:spPr>
          <a:xfrm>
            <a:off x="3388482" y="2132856"/>
            <a:ext cx="868189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Coil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61850" y="2140000"/>
            <a:ext cx="2834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2.7.0</a:t>
            </a:r>
            <a:endParaRPr lang="en-US" sz="619" dirty="0"/>
          </a:p>
        </p:txBody>
      </p:sp>
      <p:sp>
        <p:nvSpPr>
          <p:cNvPr id="38" name="Shape 36"/>
          <p:cNvSpPr/>
          <p:nvPr/>
        </p:nvSpPr>
        <p:spPr>
          <a:xfrm>
            <a:off x="4621895" y="2390031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39" name="Text 37"/>
          <p:cNvSpPr/>
          <p:nvPr/>
        </p:nvSpPr>
        <p:spPr>
          <a:xfrm>
            <a:off x="4621895" y="2132856"/>
            <a:ext cx="104965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Landscapist Glide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95375" y="2140000"/>
            <a:ext cx="2834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2.4.4</a:t>
            </a:r>
            <a:endParaRPr lang="en-US" sz="619" dirty="0"/>
          </a:p>
        </p:txBody>
      </p:sp>
      <p:sp>
        <p:nvSpPr>
          <p:cNvPr id="41" name="Shape 39"/>
          <p:cNvSpPr/>
          <p:nvPr/>
        </p:nvSpPr>
        <p:spPr>
          <a:xfrm>
            <a:off x="3388482" y="2586484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42" name="Text 40"/>
          <p:cNvSpPr/>
          <p:nvPr/>
        </p:nvSpPr>
        <p:spPr>
          <a:xfrm>
            <a:off x="3388482" y="2436465"/>
            <a:ext cx="113340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 Icons Ext.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474555" y="2443609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88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94722" y="1489918"/>
            <a:ext cx="2631356" cy="1218009"/>
          </a:xfrm>
          <a:prstGeom prst="roundRect">
            <a:avLst>
              <a:gd name="adj" fmla="val 6256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26882" y="1607790"/>
            <a:ext cx="257175" cy="25717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51885" y="163279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7" name="Text 45"/>
          <p:cNvSpPr/>
          <p:nvPr/>
        </p:nvSpPr>
        <p:spPr>
          <a:xfrm>
            <a:off x="6469782" y="1665610"/>
            <a:ext cx="2024137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spc="-10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 &amp; Async</a:t>
            </a:r>
            <a:endParaRPr lang="en-US" sz="1013" dirty="0"/>
          </a:p>
        </p:txBody>
      </p:sp>
      <p:sp>
        <p:nvSpPr>
          <p:cNvPr id="48" name="Shape 46"/>
          <p:cNvSpPr/>
          <p:nvPr/>
        </p:nvSpPr>
        <p:spPr>
          <a:xfrm>
            <a:off x="6126882" y="2086421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49" name="Text 47"/>
          <p:cNvSpPr/>
          <p:nvPr/>
        </p:nvSpPr>
        <p:spPr>
          <a:xfrm>
            <a:off x="6126882" y="1936403"/>
            <a:ext cx="91562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Hilt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44889" y="1943546"/>
            <a:ext cx="24170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2.52</a:t>
            </a:r>
            <a:endParaRPr lang="en-US" sz="619" dirty="0"/>
          </a:p>
        </p:txBody>
      </p:sp>
      <p:sp>
        <p:nvSpPr>
          <p:cNvPr id="51" name="Shape 49"/>
          <p:cNvSpPr/>
          <p:nvPr/>
        </p:nvSpPr>
        <p:spPr>
          <a:xfrm>
            <a:off x="7360407" y="2086421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52" name="Text 50"/>
          <p:cNvSpPr/>
          <p:nvPr/>
        </p:nvSpPr>
        <p:spPr>
          <a:xfrm>
            <a:off x="7360407" y="1936403"/>
            <a:ext cx="8683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Hilt-Work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233887" y="1943546"/>
            <a:ext cx="2834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1.2.0</a:t>
            </a:r>
            <a:endParaRPr lang="en-US" sz="619" dirty="0"/>
          </a:p>
        </p:txBody>
      </p:sp>
      <p:sp>
        <p:nvSpPr>
          <p:cNvPr id="54" name="Shape 52"/>
          <p:cNvSpPr/>
          <p:nvPr/>
        </p:nvSpPr>
        <p:spPr>
          <a:xfrm>
            <a:off x="6126882" y="2282875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55" name="Text 53"/>
          <p:cNvSpPr/>
          <p:nvPr/>
        </p:nvSpPr>
        <p:spPr>
          <a:xfrm>
            <a:off x="6126882" y="2132856"/>
            <a:ext cx="87706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WorkManager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947954" y="2140000"/>
            <a:ext cx="3409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2.11.2</a:t>
            </a:r>
            <a:endParaRPr lang="en-US" sz="619" dirty="0"/>
          </a:p>
        </p:txBody>
      </p:sp>
      <p:sp>
        <p:nvSpPr>
          <p:cNvPr id="57" name="Shape 55"/>
          <p:cNvSpPr/>
          <p:nvPr/>
        </p:nvSpPr>
        <p:spPr>
          <a:xfrm>
            <a:off x="7360407" y="2282875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58" name="Text 56"/>
          <p:cNvSpPr/>
          <p:nvPr/>
        </p:nvSpPr>
        <p:spPr>
          <a:xfrm>
            <a:off x="7360407" y="2132856"/>
            <a:ext cx="105761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Coroutines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446591" y="2140000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88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26882" y="2479328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61" name="Text 59"/>
          <p:cNvSpPr/>
          <p:nvPr/>
        </p:nvSpPr>
        <p:spPr>
          <a:xfrm>
            <a:off x="6126882" y="2329309"/>
            <a:ext cx="8683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Lifecycle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000362" y="2336453"/>
            <a:ext cx="2834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2.8.7</a:t>
            </a:r>
            <a:endParaRPr lang="en-US" sz="619" dirty="0"/>
          </a:p>
        </p:txBody>
      </p:sp>
      <p:sp>
        <p:nvSpPr>
          <p:cNvPr id="63" name="Text 61"/>
          <p:cNvSpPr/>
          <p:nvPr/>
        </p:nvSpPr>
        <p:spPr>
          <a:xfrm>
            <a:off x="517922" y="2815084"/>
            <a:ext cx="2631244" cy="1110853"/>
          </a:xfrm>
          <a:prstGeom prst="roundRect">
            <a:avLst>
              <a:gd name="adj" fmla="val 6860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50081" y="2932956"/>
            <a:ext cx="257175" cy="25717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75084" y="295795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66" name="Text 64"/>
          <p:cNvSpPr/>
          <p:nvPr/>
        </p:nvSpPr>
        <p:spPr>
          <a:xfrm>
            <a:off x="992981" y="2990776"/>
            <a:ext cx="2024025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spc="-10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 &amp; Persistence</a:t>
            </a:r>
            <a:endParaRPr lang="en-US" sz="1013" dirty="0"/>
          </a:p>
        </p:txBody>
      </p:sp>
      <p:sp>
        <p:nvSpPr>
          <p:cNvPr id="67" name="Shape 65"/>
          <p:cNvSpPr/>
          <p:nvPr/>
        </p:nvSpPr>
        <p:spPr>
          <a:xfrm>
            <a:off x="650081" y="3411587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68" name="Text 66"/>
          <p:cNvSpPr/>
          <p:nvPr/>
        </p:nvSpPr>
        <p:spPr>
          <a:xfrm>
            <a:off x="650081" y="3261568"/>
            <a:ext cx="86818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Room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523450" y="3268712"/>
            <a:ext cx="2834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2.8.4</a:t>
            </a:r>
            <a:endParaRPr lang="en-US" sz="619" dirty="0"/>
          </a:p>
        </p:txBody>
      </p:sp>
      <p:sp>
        <p:nvSpPr>
          <p:cNvPr id="70" name="Shape 68"/>
          <p:cNvSpPr/>
          <p:nvPr/>
        </p:nvSpPr>
        <p:spPr>
          <a:xfrm>
            <a:off x="1883494" y="3411587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71" name="Text 69"/>
          <p:cNvSpPr/>
          <p:nvPr/>
        </p:nvSpPr>
        <p:spPr>
          <a:xfrm>
            <a:off x="1883494" y="3261568"/>
            <a:ext cx="51397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OkHttp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354647" y="3268712"/>
            <a:ext cx="66236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5.0.0-alpha.14</a:t>
            </a:r>
            <a:endParaRPr lang="en-US" sz="619" dirty="0"/>
          </a:p>
        </p:txBody>
      </p:sp>
      <p:sp>
        <p:nvSpPr>
          <p:cNvPr id="73" name="Shape 71"/>
          <p:cNvSpPr/>
          <p:nvPr/>
        </p:nvSpPr>
        <p:spPr>
          <a:xfrm>
            <a:off x="650081" y="3608040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74" name="Text 72"/>
          <p:cNvSpPr/>
          <p:nvPr/>
        </p:nvSpPr>
        <p:spPr>
          <a:xfrm>
            <a:off x="650081" y="3458021"/>
            <a:ext cx="82086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Retrofit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471041" y="3465165"/>
            <a:ext cx="3409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2.12.0</a:t>
            </a:r>
            <a:endParaRPr lang="en-US" sz="619" dirty="0"/>
          </a:p>
        </p:txBody>
      </p:sp>
      <p:sp>
        <p:nvSpPr>
          <p:cNvPr id="76" name="Shape 74"/>
          <p:cNvSpPr/>
          <p:nvPr/>
        </p:nvSpPr>
        <p:spPr>
          <a:xfrm>
            <a:off x="1883494" y="3608040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77" name="Text 75"/>
          <p:cNvSpPr/>
          <p:nvPr/>
        </p:nvSpPr>
        <p:spPr>
          <a:xfrm>
            <a:off x="1883494" y="3458021"/>
            <a:ext cx="82097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Jsoup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2704566" y="3465165"/>
            <a:ext cx="3409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1.18.1</a:t>
            </a:r>
            <a:endParaRPr lang="en-US" sz="619" dirty="0"/>
          </a:p>
        </p:txBody>
      </p:sp>
      <p:sp>
        <p:nvSpPr>
          <p:cNvPr id="79" name="Shape 77"/>
          <p:cNvSpPr/>
          <p:nvPr/>
        </p:nvSpPr>
        <p:spPr>
          <a:xfrm>
            <a:off x="650081" y="3804493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80" name="Text 78"/>
          <p:cNvSpPr/>
          <p:nvPr/>
        </p:nvSpPr>
        <p:spPr>
          <a:xfrm>
            <a:off x="650081" y="3654475"/>
            <a:ext cx="82086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Moshi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471041" y="3661618"/>
            <a:ext cx="3409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1.15.2</a:t>
            </a:r>
            <a:endParaRPr lang="en-US" sz="619" dirty="0"/>
          </a:p>
        </p:txBody>
      </p:sp>
      <p:sp>
        <p:nvSpPr>
          <p:cNvPr id="82" name="Shape 80"/>
          <p:cNvSpPr/>
          <p:nvPr/>
        </p:nvSpPr>
        <p:spPr>
          <a:xfrm>
            <a:off x="1883494" y="3804493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83" name="Text 81"/>
          <p:cNvSpPr/>
          <p:nvPr/>
        </p:nvSpPr>
        <p:spPr>
          <a:xfrm>
            <a:off x="1883494" y="3654475"/>
            <a:ext cx="82097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Gson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704566" y="3661618"/>
            <a:ext cx="3409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2.14.0</a:t>
            </a:r>
            <a:endParaRPr lang="en-US" sz="619" dirty="0"/>
          </a:p>
        </p:txBody>
      </p:sp>
      <p:sp>
        <p:nvSpPr>
          <p:cNvPr id="85" name="Text 83"/>
          <p:cNvSpPr/>
          <p:nvPr/>
        </p:nvSpPr>
        <p:spPr>
          <a:xfrm>
            <a:off x="3256322" y="2815084"/>
            <a:ext cx="2631244" cy="1110853"/>
          </a:xfrm>
          <a:prstGeom prst="roundRect">
            <a:avLst>
              <a:gd name="adj" fmla="val 6860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3388482" y="2932956"/>
            <a:ext cx="257175" cy="25717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3413485" y="295795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406" dirty="0"/>
          </a:p>
        </p:txBody>
      </p:sp>
      <p:sp>
        <p:nvSpPr>
          <p:cNvPr id="88" name="Text 86"/>
          <p:cNvSpPr/>
          <p:nvPr/>
        </p:nvSpPr>
        <p:spPr>
          <a:xfrm>
            <a:off x="3731382" y="2990776"/>
            <a:ext cx="2024025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spc="-10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Platform &amp; SDK</a:t>
            </a:r>
            <a:endParaRPr lang="en-US" sz="1013" dirty="0"/>
          </a:p>
        </p:txBody>
      </p:sp>
      <p:sp>
        <p:nvSpPr>
          <p:cNvPr id="89" name="Shape 87"/>
          <p:cNvSpPr/>
          <p:nvPr/>
        </p:nvSpPr>
        <p:spPr>
          <a:xfrm>
            <a:off x="3388482" y="3411587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90" name="Text 88"/>
          <p:cNvSpPr/>
          <p:nvPr/>
        </p:nvSpPr>
        <p:spPr>
          <a:xfrm>
            <a:off x="3388482" y="3261568"/>
            <a:ext cx="82585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Android 8.0+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209442" y="3268712"/>
            <a:ext cx="3409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API 26</a:t>
            </a:r>
            <a:endParaRPr lang="en-US" sz="619" dirty="0"/>
          </a:p>
        </p:txBody>
      </p:sp>
      <p:sp>
        <p:nvSpPr>
          <p:cNvPr id="92" name="Shape 90"/>
          <p:cNvSpPr/>
          <p:nvPr/>
        </p:nvSpPr>
        <p:spPr>
          <a:xfrm>
            <a:off x="4621895" y="3411587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93" name="Text 91"/>
          <p:cNvSpPr/>
          <p:nvPr/>
        </p:nvSpPr>
        <p:spPr>
          <a:xfrm>
            <a:off x="4621895" y="3261568"/>
            <a:ext cx="101028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Compile SDK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636838" y="3268712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endParaRPr lang="en-US" sz="619" dirty="0"/>
          </a:p>
        </p:txBody>
      </p:sp>
      <p:sp>
        <p:nvSpPr>
          <p:cNvPr id="95" name="Shape 93"/>
          <p:cNvSpPr/>
          <p:nvPr/>
        </p:nvSpPr>
        <p:spPr>
          <a:xfrm>
            <a:off x="3388482" y="3608040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96" name="Text 94"/>
          <p:cNvSpPr/>
          <p:nvPr/>
        </p:nvSpPr>
        <p:spPr>
          <a:xfrm>
            <a:off x="3388482" y="3458021"/>
            <a:ext cx="10101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SDK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4403313" y="3465165"/>
            <a:ext cx="1424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endParaRPr lang="en-US" sz="619" dirty="0"/>
          </a:p>
        </p:txBody>
      </p:sp>
      <p:sp>
        <p:nvSpPr>
          <p:cNvPr id="98" name="Shape 96"/>
          <p:cNvSpPr/>
          <p:nvPr/>
        </p:nvSpPr>
        <p:spPr>
          <a:xfrm>
            <a:off x="4621895" y="3608040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99" name="Text 97"/>
          <p:cNvSpPr/>
          <p:nvPr/>
        </p:nvSpPr>
        <p:spPr>
          <a:xfrm>
            <a:off x="4621895" y="3458021"/>
            <a:ext cx="89115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Splash Screen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5495375" y="3465165"/>
            <a:ext cx="2834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1.2.0</a:t>
            </a:r>
            <a:endParaRPr lang="en-US" sz="619" dirty="0"/>
          </a:p>
        </p:txBody>
      </p:sp>
      <p:sp>
        <p:nvSpPr>
          <p:cNvPr id="101" name="Shape 99"/>
          <p:cNvSpPr/>
          <p:nvPr/>
        </p:nvSpPr>
        <p:spPr>
          <a:xfrm>
            <a:off x="3388482" y="3804493"/>
            <a:ext cx="1133401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102" name="Text 100"/>
          <p:cNvSpPr/>
          <p:nvPr/>
        </p:nvSpPr>
        <p:spPr>
          <a:xfrm>
            <a:off x="3388482" y="3654475"/>
            <a:ext cx="86818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Navigation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4261850" y="3661618"/>
            <a:ext cx="2834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2.8.4</a:t>
            </a:r>
            <a:endParaRPr lang="en-US" sz="619" dirty="0"/>
          </a:p>
        </p:txBody>
      </p:sp>
      <p:sp>
        <p:nvSpPr>
          <p:cNvPr id="104" name="Text 102"/>
          <p:cNvSpPr/>
          <p:nvPr/>
        </p:nvSpPr>
        <p:spPr>
          <a:xfrm>
            <a:off x="5994722" y="2815084"/>
            <a:ext cx="2631356" cy="1110853"/>
          </a:xfrm>
          <a:prstGeom prst="roundRect">
            <a:avLst>
              <a:gd name="adj" fmla="val 6860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6126882" y="2932956"/>
            <a:ext cx="257175" cy="257175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6151885" y="295795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07" name="Text 105"/>
          <p:cNvSpPr/>
          <p:nvPr/>
        </p:nvSpPr>
        <p:spPr>
          <a:xfrm>
            <a:off x="6469782" y="2990776"/>
            <a:ext cx="2024137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spc="-10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Specialty Libraries</a:t>
            </a:r>
            <a:endParaRPr lang="en-US" sz="1013" dirty="0"/>
          </a:p>
        </p:txBody>
      </p:sp>
      <p:sp>
        <p:nvSpPr>
          <p:cNvPr id="108" name="Shape 106"/>
          <p:cNvSpPr/>
          <p:nvPr/>
        </p:nvSpPr>
        <p:spPr>
          <a:xfrm>
            <a:off x="6126882" y="3411587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109" name="Text 107"/>
          <p:cNvSpPr/>
          <p:nvPr/>
        </p:nvSpPr>
        <p:spPr>
          <a:xfrm>
            <a:off x="6126882" y="3261568"/>
            <a:ext cx="8683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LuaJ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7000362" y="3268712"/>
            <a:ext cx="2834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3.0.1</a:t>
            </a:r>
            <a:endParaRPr lang="en-US" sz="619" dirty="0"/>
          </a:p>
        </p:txBody>
      </p:sp>
      <p:sp>
        <p:nvSpPr>
          <p:cNvPr id="111" name="Shape 109"/>
          <p:cNvSpPr/>
          <p:nvPr/>
        </p:nvSpPr>
        <p:spPr>
          <a:xfrm>
            <a:off x="7360407" y="3411587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112" name="Text 110"/>
          <p:cNvSpPr/>
          <p:nvPr/>
        </p:nvSpPr>
        <p:spPr>
          <a:xfrm>
            <a:off x="7360407" y="3261568"/>
            <a:ext cx="96295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SnakeYAML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8330823" y="3268712"/>
            <a:ext cx="18421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2.6</a:t>
            </a:r>
            <a:endParaRPr lang="en-US" sz="619" dirty="0"/>
          </a:p>
        </p:txBody>
      </p:sp>
      <p:sp>
        <p:nvSpPr>
          <p:cNvPr id="114" name="Shape 112"/>
          <p:cNvSpPr/>
          <p:nvPr/>
        </p:nvSpPr>
        <p:spPr>
          <a:xfrm>
            <a:off x="6126882" y="3608040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115" name="Text 113"/>
          <p:cNvSpPr/>
          <p:nvPr/>
        </p:nvSpPr>
        <p:spPr>
          <a:xfrm>
            <a:off x="6126882" y="3458021"/>
            <a:ext cx="8683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Readability4j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7000362" y="3465165"/>
            <a:ext cx="2834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1.0.8</a:t>
            </a:r>
            <a:endParaRPr lang="en-US" sz="619" dirty="0"/>
          </a:p>
        </p:txBody>
      </p:sp>
      <p:sp>
        <p:nvSpPr>
          <p:cNvPr id="117" name="Shape 115"/>
          <p:cNvSpPr/>
          <p:nvPr/>
        </p:nvSpPr>
        <p:spPr>
          <a:xfrm>
            <a:off x="7360407" y="3608040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118" name="Text 116"/>
          <p:cNvSpPr/>
          <p:nvPr/>
        </p:nvSpPr>
        <p:spPr>
          <a:xfrm>
            <a:off x="7360407" y="3458021"/>
            <a:ext cx="8683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Crux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8233887" y="3465165"/>
            <a:ext cx="2834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5.1.0</a:t>
            </a:r>
            <a:endParaRPr lang="en-US" sz="619" dirty="0"/>
          </a:p>
        </p:txBody>
      </p:sp>
      <p:sp>
        <p:nvSpPr>
          <p:cNvPr id="120" name="Shape 118"/>
          <p:cNvSpPr/>
          <p:nvPr/>
        </p:nvSpPr>
        <p:spPr>
          <a:xfrm>
            <a:off x="6126882" y="3804493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121" name="Text 119"/>
          <p:cNvSpPr/>
          <p:nvPr/>
        </p:nvSpPr>
        <p:spPr>
          <a:xfrm>
            <a:off x="6126882" y="3654475"/>
            <a:ext cx="98198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MLKit Translate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6947954" y="3661618"/>
            <a:ext cx="34091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17.0.3</a:t>
            </a:r>
            <a:endParaRPr lang="en-US" sz="619" dirty="0"/>
          </a:p>
        </p:txBody>
      </p:sp>
      <p:sp>
        <p:nvSpPr>
          <p:cNvPr id="123" name="Shape 121"/>
          <p:cNvSpPr/>
          <p:nvPr/>
        </p:nvSpPr>
        <p:spPr>
          <a:xfrm>
            <a:off x="7360407" y="3804493"/>
            <a:ext cx="1133512" cy="0"/>
          </a:xfrm>
          <a:prstGeom prst="line">
            <a:avLst/>
          </a:prstGeom>
          <a:noFill/>
          <a:ln w="7144">
            <a:solidFill>
              <a:srgbClr val="E8DCC0"/>
            </a:solidFill>
            <a:prstDash val="dot"/>
          </a:ln>
        </p:spPr>
      </p:sp>
      <p:sp>
        <p:nvSpPr>
          <p:cNvPr id="124" name="Text 122"/>
          <p:cNvSpPr/>
          <p:nvPr/>
        </p:nvSpPr>
        <p:spPr>
          <a:xfrm>
            <a:off x="7360407" y="3654475"/>
            <a:ext cx="8683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Timber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8233887" y="3661618"/>
            <a:ext cx="28342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C882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5.0.1</a:t>
            </a:r>
            <a:endParaRPr lang="en-US" sz="619" dirty="0"/>
          </a:p>
        </p:txBody>
      </p:sp>
      <p:sp>
        <p:nvSpPr>
          <p:cNvPr id="126" name="Text 124"/>
          <p:cNvSpPr/>
          <p:nvPr/>
        </p:nvSpPr>
        <p:spPr>
          <a:xfrm>
            <a:off x="514350" y="4029521"/>
            <a:ext cx="8115300" cy="285750"/>
          </a:xfrm>
          <a:prstGeom prst="roundRect">
            <a:avLst>
              <a:gd name="adj" fmla="val 20000"/>
            </a:avLst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Text 125"/>
          <p:cNvSpPr/>
          <p:nvPr/>
        </p:nvSpPr>
        <p:spPr>
          <a:xfrm>
            <a:off x="628650" y="41081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28" name="Text 126"/>
          <p:cNvSpPr/>
          <p:nvPr/>
        </p:nvSpPr>
        <p:spPr>
          <a:xfrm>
            <a:off x="828675" y="4109889"/>
            <a:ext cx="76866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dependencies are pinned via a Gradle version catalog (gradle/libs.versions.toml). Convention plugins enforce shared config across every module.</a:t>
            </a:r>
            <a:endParaRPr lang="en-US" sz="703" dirty="0"/>
          </a:p>
        </p:txBody>
      </p:sp>
      <p:sp>
        <p:nvSpPr>
          <p:cNvPr id="129" name="Text 127"/>
          <p:cNvSpPr/>
          <p:nvPr/>
        </p:nvSpPr>
        <p:spPr>
          <a:xfrm>
            <a:off x="671513" y="4861322"/>
            <a:ext cx="761233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TECH STACK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514350" y="48631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131" name="Text 129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14 — BUILD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60784"/>
            <a:ext cx="862965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25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Convention Plugins &amp; Build Logic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962174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119336"/>
            <a:ext cx="563085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APP/BUILD.GRADLE.KTS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280071"/>
            <a:ext cx="4345632" cy="2171700"/>
          </a:xfrm>
          <a:prstGeom prst="roundRect">
            <a:avLst>
              <a:gd name="adj" fmla="val 2632"/>
            </a:avLst>
          </a:prstGeom>
          <a:solidFill>
            <a:srgbClr val="1B1A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650" y="1387227"/>
            <a:ext cx="495136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27658" y="1510457"/>
            <a:ext cx="395764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7658" y="1633686"/>
            <a:ext cx="395764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27658" y="1756916"/>
            <a:ext cx="395764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27658" y="1880146"/>
            <a:ext cx="395764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27658" y="2003375"/>
            <a:ext cx="395764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7658" y="2126605"/>
            <a:ext cx="395764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8650" y="2496294"/>
            <a:ext cx="495136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27658" y="2619524"/>
            <a:ext cx="803811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defaultConfig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09972" y="2742754"/>
            <a:ext cx="696143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B5D8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"my.novela"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05044" y="2865983"/>
            <a:ext cx="184221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EF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17948" y="2989213"/>
            <a:ext cx="495136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B5D89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"1.3.3"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4350" y="3523208"/>
            <a:ext cx="5107924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BUILD-LOGIC/CONVENTION/.../APPCONFIG.KT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4350" y="3683943"/>
            <a:ext cx="4345632" cy="939403"/>
          </a:xfrm>
          <a:prstGeom prst="roundRect">
            <a:avLst>
              <a:gd name="adj" fmla="val 6084"/>
            </a:avLst>
          </a:prstGeom>
          <a:solidFill>
            <a:srgbClr val="1B1A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8650" y="3791099"/>
            <a:ext cx="927432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object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20155" y="3791099"/>
            <a:ext cx="636557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appConfig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27658" y="3914329"/>
            <a:ext cx="237530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27658" y="4037558"/>
            <a:ext cx="636557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01844" y="4037558"/>
            <a:ext cx="184221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EF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7658" y="4160788"/>
            <a:ext cx="636557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01844" y="4160788"/>
            <a:ext cx="184221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EF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7658" y="4284018"/>
            <a:ext cx="636557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01844" y="4284018"/>
            <a:ext cx="184221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EF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4295" y="1119336"/>
            <a:ext cx="3733123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spc="-12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Three convention plugins</a:t>
            </a:r>
            <a:endParaRPr lang="en-US" sz="1238" dirty="0"/>
          </a:p>
        </p:txBody>
      </p:sp>
      <p:sp>
        <p:nvSpPr>
          <p:cNvPr id="31" name="Text 29"/>
          <p:cNvSpPr/>
          <p:nvPr/>
        </p:nvSpPr>
        <p:spPr>
          <a:xfrm>
            <a:off x="5077867" y="1367135"/>
            <a:ext cx="3548211" cy="789384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58591" y="1447431"/>
            <a:ext cx="800167" cy="168021"/>
          </a:xfrm>
          <a:prstGeom prst="roundRect">
            <a:avLst>
              <a:gd name="adj" fmla="val 5663265"/>
            </a:avLst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32077" y="1456432"/>
            <a:ext cx="85319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81451" y="1649313"/>
            <a:ext cx="3450771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1B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noveldokusha.android.application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81451" y="1810048"/>
            <a:ext cx="334104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Sets up signing, ABI splits, build types, proguard, namespace. Inherited by :app only.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7867" y="2235101"/>
            <a:ext cx="3548211" cy="789384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60489" y="2315397"/>
            <a:ext cx="565986" cy="168021"/>
          </a:xfrm>
          <a:prstGeom prst="roundRect">
            <a:avLst>
              <a:gd name="adj" fmla="val 5663265"/>
            </a:avLst>
          </a:prstGeom>
          <a:solidFill>
            <a:srgbClr val="2D5F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165545" y="2324398"/>
            <a:ext cx="55587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LIBRARY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81451" y="2517279"/>
            <a:ext cx="3450771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1B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noveldokusha.android.library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81451" y="2678013"/>
            <a:ext cx="334104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Default Android library config: min/target SDK, Java 21, test scaffolding. Used by all 31 library modules.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77867" y="3103066"/>
            <a:ext cx="3548211" cy="789384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158591" y="3183362"/>
            <a:ext cx="627712" cy="168021"/>
          </a:xfrm>
          <a:prstGeom prst="roundRect">
            <a:avLst>
              <a:gd name="adj" fmla="val 5663265"/>
            </a:avLst>
          </a:prstGeom>
          <a:solidFill>
            <a:srgbClr val="8F5B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81451" y="3192363"/>
            <a:ext cx="58199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COMPOSE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81451" y="3385245"/>
            <a:ext cx="3450771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1B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noveldokusha.android.compose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81451" y="3545979"/>
            <a:ext cx="334104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Adds Jetpack Compose compiler plugin, Material 3 deps, Coil, Glide, tooling. Used by feature modules with UI.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02870" y="40702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7C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5288607" y="4010323"/>
            <a:ext cx="3312468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com.autonomousapps.dependency-analysis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plugin catches unused deps at build time.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1513" y="4861322"/>
            <a:ext cx="761233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BUILD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4350" y="48631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50" name="Text 48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14 — READER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60784"/>
            <a:ext cx="8521065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25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Reader &amp; Text-to-Speech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962174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922" y="1137196"/>
            <a:ext cx="3311240" cy="3407569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52400" dist="38100" dir="5400000">
              <a:srgbClr val="1B1A17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h2p-fit-1783952809627-vn4t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44" y="1197918"/>
            <a:ext cx="3189796" cy="3286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106" y="4605486"/>
            <a:ext cx="40608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READER · DARK MODE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047046" y="1312218"/>
            <a:ext cx="4582604" cy="0"/>
          </a:xfrm>
          <a:prstGeom prst="line">
            <a:avLst/>
          </a:prstGeom>
          <a:noFill/>
          <a:ln w="7144">
            <a:solidFill>
              <a:srgbClr val="D9CF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47046" y="1133624"/>
            <a:ext cx="5096954" cy="226171"/>
          </a:xfrm>
          <a:prstGeom prst="rect">
            <a:avLst/>
          </a:prstGeom>
          <a:noFill/>
          <a:ln/>
        </p:spPr>
        <p:txBody>
          <a:bodyPr wrap="none" lIns="0" tIns="0" rIns="0" bIns="5715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READING EXPERIENCE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047046" y="1387227"/>
            <a:ext cx="214313" cy="214313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71335" y="141151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4347083" y="1387227"/>
            <a:ext cx="2977845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Infinite chapter scrolling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347083" y="1526530"/>
            <a:ext cx="2757264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reading across chapter boundaries with prefetching.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4047046" y="1715058"/>
            <a:ext cx="214313" cy="214313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071335" y="173934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4347083" y="1715058"/>
            <a:ext cx="243311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Offline caching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347083" y="1854361"/>
            <a:ext cx="2317254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Downloaded chapters stored locally for offline access.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4047046" y="2042889"/>
            <a:ext cx="214313" cy="214313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071335" y="206717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4347083" y="2042889"/>
            <a:ext cx="307913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fonts &amp; sizing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347083" y="2182192"/>
            <a:ext cx="2932509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Built-in Inter, Lora, Merriweather, Source Sans Pro. Import your own.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4047046" y="2370720"/>
            <a:ext cx="214313" cy="214313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071335" y="239500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4347083" y="2370720"/>
            <a:ext cx="333557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Material 3 themes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347083" y="2510024"/>
            <a:ext cx="317673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20+ color schemes including Tachiyomi, Catppuccin, Nord, Monet, Mocha.</a:t>
            </a:r>
            <a:endParaRPr lang="en-US" sz="675" dirty="0"/>
          </a:p>
        </p:txBody>
      </p:sp>
      <p:sp>
        <p:nvSpPr>
          <p:cNvPr id="26" name="Shape 23"/>
          <p:cNvSpPr/>
          <p:nvPr/>
        </p:nvSpPr>
        <p:spPr>
          <a:xfrm>
            <a:off x="4047046" y="2912864"/>
            <a:ext cx="4582604" cy="0"/>
          </a:xfrm>
          <a:prstGeom prst="line">
            <a:avLst/>
          </a:prstGeom>
          <a:noFill/>
          <a:ln w="7144">
            <a:solidFill>
              <a:srgbClr val="D9CF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47046" y="2734270"/>
            <a:ext cx="5096954" cy="226171"/>
          </a:xfrm>
          <a:prstGeom prst="rect">
            <a:avLst/>
          </a:prstGeom>
          <a:noFill/>
          <a:ln/>
        </p:spPr>
        <p:txBody>
          <a:bodyPr wrap="none" lIns="0" tIns="0" rIns="0" bIns="5715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TEXT-TO-SPEECH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047046" y="2987873"/>
            <a:ext cx="214313" cy="214313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071335" y="301216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4347083" y="2987873"/>
            <a:ext cx="355626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Floating mini-player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347083" y="3127177"/>
            <a:ext cx="3386919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Persistent overlay with play/pause/skip controls while reading or in other apps.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4047046" y="3315705"/>
            <a:ext cx="214313" cy="214313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071335" y="333999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4347083" y="3315705"/>
            <a:ext cx="2223559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Speed &amp; pitch control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347083" y="3455008"/>
            <a:ext cx="2117675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Fine-grained tuning. Multiple TTS engine support.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4047046" y="3643536"/>
            <a:ext cx="214313" cy="214313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071335" y="366782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ᛒ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4347083" y="3643536"/>
            <a:ext cx="302252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Bluetooth &amp; background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347083" y="3782839"/>
            <a:ext cx="287859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Plays through paired devices. Survives screen lock and app switch.</a:t>
            </a:r>
            <a:endParaRPr lang="en-US" sz="675" dirty="0"/>
          </a:p>
        </p:txBody>
      </p:sp>
      <p:sp>
        <p:nvSpPr>
          <p:cNvPr id="40" name="Text 37"/>
          <p:cNvSpPr/>
          <p:nvPr/>
        </p:nvSpPr>
        <p:spPr>
          <a:xfrm>
            <a:off x="4047046" y="3971367"/>
            <a:ext cx="214313" cy="214313"/>
          </a:xfrm>
          <a:prstGeom prst="ellipse">
            <a:avLst/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071335" y="399565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4347083" y="3971367"/>
            <a:ext cx="324629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Reading timer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347083" y="4110670"/>
            <a:ext cx="2769877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Auto-stop TTS after a configurable duration for bedtime reading.</a:t>
            </a:r>
            <a:endParaRPr lang="en-US" sz="675" dirty="0"/>
          </a:p>
        </p:txBody>
      </p:sp>
      <p:sp>
        <p:nvSpPr>
          <p:cNvPr id="44" name="Text 41"/>
          <p:cNvSpPr/>
          <p:nvPr/>
        </p:nvSpPr>
        <p:spPr>
          <a:xfrm>
            <a:off x="671513" y="4861322"/>
            <a:ext cx="761233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READER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14350" y="48631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46" name="Text 43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14 — CODEBASE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89359"/>
            <a:ext cx="8521065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25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By the Numbers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005036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119336"/>
            <a:ext cx="5572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snapshot of the NoveLA repository — a substantial, actively-maintained open-source Android project.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17922" y="1463576"/>
            <a:ext cx="1914525" cy="1335881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6243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8" name="Text 6"/>
          <p:cNvSpPr/>
          <p:nvPr/>
        </p:nvSpPr>
        <p:spPr>
          <a:xfrm>
            <a:off x="864394" y="1629668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KOTLIN FILES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881485"/>
            <a:ext cx="159305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390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78656" y="2533017"/>
            <a:ext cx="15930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i="1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across all modules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82466" y="1463576"/>
            <a:ext cx="1914525" cy="1335881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43200" y="16243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2928938" y="1629668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LINES OF KOTLIN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0" y="1881485"/>
            <a:ext cx="159305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</a:t>
            </a:r>
            <a:pPr algn="l" indent="0" marL="0">
              <a:lnSpc>
                <a:spcPts val="3600"/>
              </a:lnSpc>
              <a:buNone/>
            </a:pPr>
            <a:r>
              <a:rPr lang="en-US" sz="1238" b="1" spc="-72" kern="0" dirty="0">
                <a:solidFill>
                  <a:srgbClr val="C882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0" y="2533017"/>
            <a:ext cx="15930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i="1" dirty="0">
                <a:solidFill>
                  <a:srgbClr val="7A72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~54,386 lines total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47009" y="1463576"/>
            <a:ext cx="1914525" cy="1335881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07744" y="16243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4993481" y="1629668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GRADLE MODULES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7744" y="1881485"/>
            <a:ext cx="159305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807744" y="2533017"/>
            <a:ext cx="15930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i="1" dirty="0">
                <a:solidFill>
                  <a:srgbClr val="7A72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+ 3 convention plugins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11553" y="1463576"/>
            <a:ext cx="1914525" cy="1335881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72288" y="16243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7058025" y="1629668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XML RESOURCES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72288" y="1881485"/>
            <a:ext cx="159305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72288" y="2533017"/>
            <a:ext cx="15930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i="1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layouts, strings, themes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7922" y="2949476"/>
            <a:ext cx="1914525" cy="1335881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8656" y="31102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864394" y="3115568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 LANGUAGES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8656" y="3367385"/>
            <a:ext cx="159305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78656" y="4018917"/>
            <a:ext cx="15930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i="1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community-translated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82466" y="2949476"/>
            <a:ext cx="1914525" cy="1335881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743200" y="31102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2928938" y="3115568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SCREENSHOTS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0" y="3367385"/>
            <a:ext cx="159305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2743200" y="4018917"/>
            <a:ext cx="15930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i="1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/screenshots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47009" y="2949476"/>
            <a:ext cx="1914525" cy="1335881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7744" y="31102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4993481" y="3115568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CATALOG SOURCES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7744" y="3367385"/>
            <a:ext cx="159305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B1A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pPr algn="l" indent="0" marL="0">
              <a:lnSpc>
                <a:spcPts val="3600"/>
              </a:lnSpc>
              <a:buNone/>
            </a:pPr>
            <a:r>
              <a:rPr lang="en-US" sz="1238" b="1" spc="-72" kern="0" dirty="0">
                <a:solidFill>
                  <a:srgbClr val="C882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+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4807744" y="4018917"/>
            <a:ext cx="15930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i="1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built-in + Lua plugins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11553" y="2949476"/>
            <a:ext cx="1914525" cy="1335881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72288" y="311021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266" dirty="0"/>
          </a:p>
        </p:txBody>
      </p:sp>
      <p:sp>
        <p:nvSpPr>
          <p:cNvPr id="43" name="Text 41"/>
          <p:cNvSpPr/>
          <p:nvPr/>
        </p:nvSpPr>
        <p:spPr>
          <a:xfrm>
            <a:off x="7058025" y="3115568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LICENSE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72288" y="3367385"/>
            <a:ext cx="159305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GPL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6872288" y="4018917"/>
            <a:ext cx="159305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i="1" dirty="0">
                <a:solidFill>
                  <a:srgbClr val="7A72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GPL-3.0 · fully open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4350" y="4417516"/>
            <a:ext cx="8115300" cy="14288"/>
          </a:xfrm>
          <a:prstGeom prst="rect">
            <a:avLst/>
          </a:prstGeom>
          <a:solidFill>
            <a:srgbClr val="C8821A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14350" y="4488954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7A726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Repository: github.com/Parasgaming122/NoveLA · applicationId: my.novela · versionName: 1.3.3 (versionCode 34)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1513" y="4861322"/>
            <a:ext cx="761233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CODEBASE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4350" y="48631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50" name="Text 48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14 — GALLERY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75072"/>
            <a:ext cx="8521065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25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App Screenshots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976461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076474"/>
            <a:ext cx="557212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visual tour of NoveLA — library, catalog, reader, translation, and plugin management.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363563"/>
            <a:ext cx="2612157" cy="1739503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3952804785-l0jwr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356" y="1409998"/>
            <a:ext cx="2519288" cy="1428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4356" y="2838748"/>
            <a:ext cx="2519288" cy="217884"/>
          </a:xfrm>
          <a:prstGeom prst="rect">
            <a:avLst/>
          </a:prstGeom>
          <a:noFill/>
          <a:ln/>
        </p:spPr>
        <p:txBody>
          <a:bodyPr wrap="none" lIns="42863" tIns="57150" rIns="42863" bIns="42863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LIBRARY · LIGHT THEME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65810" y="1363563"/>
            <a:ext cx="2612268" cy="1739503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tmp/h2p-fit-1783952804786-rbisy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244" y="1409998"/>
            <a:ext cx="2519400" cy="1428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12244" y="2838748"/>
            <a:ext cx="2519400" cy="217884"/>
          </a:xfrm>
          <a:prstGeom prst="rect">
            <a:avLst/>
          </a:prstGeom>
          <a:noFill/>
          <a:ln/>
        </p:spPr>
        <p:txBody>
          <a:bodyPr wrap="none" lIns="42863" tIns="57150" rIns="42863" bIns="42863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LIBRARY · DARK THEME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013810" y="1363563"/>
            <a:ext cx="2612157" cy="1739503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tmp/h2p-fit-1783952804787-e49k6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244" y="1409998"/>
            <a:ext cx="2519288" cy="1428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60244" y="2838748"/>
            <a:ext cx="2519288" cy="217884"/>
          </a:xfrm>
          <a:prstGeom prst="rect">
            <a:avLst/>
          </a:prstGeom>
          <a:noFill/>
          <a:ln/>
        </p:spPr>
        <p:txBody>
          <a:bodyPr wrap="none" lIns="42863" tIns="57150" rIns="42863" bIns="42863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CATALOG EXPLORER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517922" y="3238798"/>
            <a:ext cx="2612157" cy="1739503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3" descr="/tmp/h2p-fit-1783952804787-6upq5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56" y="3285232"/>
            <a:ext cx="2519288" cy="1428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4356" y="4713982"/>
            <a:ext cx="2519288" cy="217884"/>
          </a:xfrm>
          <a:prstGeom prst="rect">
            <a:avLst/>
          </a:prstGeom>
          <a:noFill/>
          <a:ln/>
        </p:spPr>
        <p:txBody>
          <a:bodyPr wrap="none" lIns="42863" tIns="57150" rIns="42863" bIns="42863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READER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3265810" y="3238798"/>
            <a:ext cx="2612268" cy="1739503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4" descr="/tmp/h2p-fit-1783952804801-w0som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244" y="3285232"/>
            <a:ext cx="2519400" cy="1428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312244" y="4713982"/>
            <a:ext cx="2519400" cy="217884"/>
          </a:xfrm>
          <a:prstGeom prst="rect">
            <a:avLst/>
          </a:prstGeom>
          <a:noFill/>
          <a:ln/>
        </p:spPr>
        <p:txBody>
          <a:bodyPr wrap="none" lIns="42863" tIns="57150" rIns="42863" bIns="42863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TRANSLATION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6013810" y="3238798"/>
            <a:ext cx="2612157" cy="1739503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/tmp/h2p-fit-1783952804801-8r6o3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0244" y="3285232"/>
            <a:ext cx="2519288" cy="14287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060244" y="4713982"/>
            <a:ext cx="2519288" cy="217884"/>
          </a:xfrm>
          <a:prstGeom prst="rect">
            <a:avLst/>
          </a:prstGeom>
          <a:noFill/>
          <a:ln/>
        </p:spPr>
        <p:txBody>
          <a:bodyPr wrap="none" lIns="42863" tIns="57150" rIns="42863" bIns="42863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7A72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INSTALLED PLUGINS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671513" y="4861322"/>
            <a:ext cx="761233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GALLERY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514350" y="48631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26" name="Text 18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14 —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75072"/>
            <a:ext cx="862965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25" kern="0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Current Status &amp; Direction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976461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119336"/>
            <a:ext cx="8115300" cy="516359"/>
          </a:xfrm>
          <a:prstGeom prst="roundRect">
            <a:avLst>
              <a:gd name="adj" fmla="val 14757"/>
            </a:avLst>
          </a:prstGeom>
          <a:solidFill>
            <a:srgbClr val="1B1A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513" y="128464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E6A64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828" dirty="0"/>
          </a:p>
        </p:txBody>
      </p:sp>
      <p:sp>
        <p:nvSpPr>
          <p:cNvPr id="7" name="Text 5"/>
          <p:cNvSpPr/>
          <p:nvPr/>
        </p:nvSpPr>
        <p:spPr>
          <a:xfrm>
            <a:off x="957263" y="1233636"/>
            <a:ext cx="7515225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spc="111" kern="0" dirty="0">
                <a:solidFill>
                  <a:srgbClr val="E6A6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 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8D9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features are temporarily paused. Current focus is on fixing bugs, cleaning up the codebase, and performance/optimization work. Bug reports and PRs targeting existing issues are very welcome.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7922" y="1753567"/>
            <a:ext cx="1935956" cy="1907381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7221" y="1875868"/>
            <a:ext cx="794809" cy="184023"/>
          </a:xfrm>
          <a:prstGeom prst="roundRect">
            <a:avLst>
              <a:gd name="adj" fmla="val 5170807"/>
            </a:avLst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8409" y="1885727"/>
            <a:ext cx="8124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0081" y="2121471"/>
            <a:ext cx="167163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Bug Fixes &amp; Cleanup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50081" y="2347168"/>
            <a:ext cx="167163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Stabilizing the codebase, removing dead code, improving tests, and addressing open issues. The optimization report (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F5B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NoveLA_Optimization_Report.md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guides this work.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75322" y="1753567"/>
            <a:ext cx="1935956" cy="1907381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88885" y="1875868"/>
            <a:ext cx="502094" cy="184023"/>
          </a:xfrm>
          <a:prstGeom prst="roundRect">
            <a:avLst>
              <a:gd name="adj" fmla="val 5170807"/>
            </a:avLst>
          </a:prstGeom>
          <a:solidFill>
            <a:srgbClr val="2D5F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99160" y="1885727"/>
            <a:ext cx="48154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07481" y="2121471"/>
            <a:ext cx="1671637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Performance Tuning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2707481" y="2347168"/>
            <a:ext cx="167163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 query optimization, scraper caching improvements, Compose recomposition audits, and memory footprint reduction for large libraries.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32722" y="1753567"/>
            <a:ext cx="1935956" cy="1907381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42021" y="1875868"/>
            <a:ext cx="631731" cy="184023"/>
          </a:xfrm>
          <a:prstGeom prst="roundRect">
            <a:avLst>
              <a:gd name="adj" fmla="val 5170807"/>
            </a:avLst>
          </a:prstGeom>
          <a:solidFill>
            <a:srgbClr val="4A7C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64881" y="1885727"/>
            <a:ext cx="58601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WELCOME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64881" y="2121471"/>
            <a:ext cx="1671637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Source Parser PRs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4764881" y="2347168"/>
            <a:ext cx="167163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Fixes and improvements to existing source parsers are actively merged. New sources can be added via the plugin repo without app changes.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90122" y="1753567"/>
            <a:ext cx="1935956" cy="1907381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 w="7144">
            <a:solidFill>
              <a:srgbClr val="D9CFB8"/>
            </a:solidFill>
            <a:prstDash val="solid"/>
          </a:ln>
          <a:effectLst>
            <a:outerShdw sx="100000" sy="100000" kx="0" ky="0" algn="bl" rotWithShape="0" blurRad="101600" dist="9525" dir="5400000">
              <a:srgbClr val="1B1A17">
                <a:alpha val="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99421" y="1875868"/>
            <a:ext cx="661645" cy="184023"/>
          </a:xfrm>
          <a:prstGeom prst="roundRect">
            <a:avLst>
              <a:gd name="adj" fmla="val 5170807"/>
            </a:avLst>
          </a:prstGeom>
          <a:solidFill>
            <a:srgbClr val="7A72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15142" y="1885727"/>
            <a:ext cx="63020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DEFERRED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22281" y="2121471"/>
            <a:ext cx="1671637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dirty="0">
                <a:solidFill>
                  <a:srgbClr val="1B1A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New Feature Requests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6822281" y="2347168"/>
            <a:ext cx="167163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feature requests will be revisited later. The team prioritizes stability and codebase health over new functionality for now.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4350" y="3764533"/>
            <a:ext cx="8115300" cy="328613"/>
          </a:xfrm>
          <a:prstGeom prst="roundRect">
            <a:avLst>
              <a:gd name="adj" fmla="val 23188"/>
            </a:avLst>
          </a:prstGeom>
          <a:solidFill>
            <a:srgbClr val="F2EA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2938" y="385025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F5B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547" dirty="0"/>
          </a:p>
        </p:txBody>
      </p:sp>
      <p:sp>
        <p:nvSpPr>
          <p:cNvPr id="30" name="Text 28"/>
          <p:cNvSpPr/>
          <p:nvPr/>
        </p:nvSpPr>
        <p:spPr>
          <a:xfrm>
            <a:off x="885825" y="3859188"/>
            <a:ext cx="7615238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Want to help?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B1A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issues, submit PRs,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or contribute new Lua plugins to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F5B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HnDK0/external-sources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1513" y="4861322"/>
            <a:ext cx="761233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3D3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NOVELA · ROADMAP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350" y="48631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33" name="Text 31"/>
          <p:cNvSpPr/>
          <p:nvPr/>
        </p:nvSpPr>
        <p:spPr>
          <a:xfrm>
            <a:off x="8298135" y="4854178"/>
            <a:ext cx="47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89F9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12451" y="214313"/>
            <a:ext cx="2331549" cy="1388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5"/>
              </a:lnSpc>
              <a:buNone/>
            </a:pPr>
            <a:r>
              <a:rPr lang="en-US" sz="10125" b="1" i="1" dirty="0">
                <a:solidFill>
                  <a:srgbClr val="2A282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10125" dirty="0"/>
          </a:p>
        </p:txBody>
      </p:sp>
      <p:sp>
        <p:nvSpPr>
          <p:cNvPr id="5" name="Text 1"/>
          <p:cNvSpPr/>
          <p:nvPr/>
        </p:nvSpPr>
        <p:spPr>
          <a:xfrm>
            <a:off x="7837473" y="4854178"/>
            <a:ext cx="10210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7A72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NOVELA · 14 / 14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14350" y="4000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E6A6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14 — GET STARTED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14350" y="589359"/>
            <a:ext cx="8629650" cy="42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1"/>
              </a:lnSpc>
              <a:buNone/>
            </a:pPr>
            <a:r>
              <a:rPr lang="en-US" sz="2925" b="1" spc="-44" kern="0" dirty="0">
                <a:solidFill>
                  <a:srgbClr val="F5EFE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Get NoveLA. Read Everywhere.</a:t>
            </a:r>
            <a:endParaRPr lang="en-US" sz="2925" dirty="0"/>
          </a:p>
        </p:txBody>
      </p:sp>
      <p:sp>
        <p:nvSpPr>
          <p:cNvPr id="8" name="Text 4"/>
          <p:cNvSpPr/>
          <p:nvPr/>
        </p:nvSpPr>
        <p:spPr>
          <a:xfrm>
            <a:off x="514350" y="1079376"/>
            <a:ext cx="400050" cy="14288"/>
          </a:xfrm>
          <a:prstGeom prst="rect">
            <a:avLst/>
          </a:prstGeom>
          <a:solidFill>
            <a:srgbClr val="C88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14350" y="1207963"/>
            <a:ext cx="8629650" cy="19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B5A9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ways to engage with the project — pick yours.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42938" y="164228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2813" dirty="0"/>
          </a:p>
        </p:txBody>
      </p:sp>
      <p:sp>
        <p:nvSpPr>
          <p:cNvPr id="11" name="Text 7"/>
          <p:cNvSpPr/>
          <p:nvPr/>
        </p:nvSpPr>
        <p:spPr>
          <a:xfrm>
            <a:off x="642938" y="2028044"/>
            <a:ext cx="3127248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spc="-7" kern="0" dirty="0">
                <a:solidFill>
                  <a:srgbClr val="F5EFE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Download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2938" y="2325179"/>
            <a:ext cx="2443163" cy="532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B5A9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the latest APK from the GitHub Releases page. Requires Android 8.0 or above. No account, no tracking, no ads — ever.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42938" y="2884624"/>
            <a:ext cx="263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github.com/Parasgaming122/NoveLA/releases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42938" y="3113224"/>
            <a:ext cx="2443163" cy="16459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A89F9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 build from source: git clone + Android Studio</a:t>
            </a:r>
            <a:endParaRPr lang="en-US" sz="675" dirty="0"/>
          </a:p>
        </p:txBody>
      </p:sp>
      <p:sp>
        <p:nvSpPr>
          <p:cNvPr id="15" name="Text 11"/>
          <p:cNvSpPr/>
          <p:nvPr/>
        </p:nvSpPr>
        <p:spPr>
          <a:xfrm>
            <a:off x="3214688" y="1642281"/>
            <a:ext cx="7144" cy="1599530"/>
          </a:xfrm>
          <a:prstGeom prst="rect">
            <a:avLst/>
          </a:prstGeom>
          <a:solidFill>
            <a:srgbClr val="4A46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350419" y="164228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813" dirty="0"/>
          </a:p>
        </p:txBody>
      </p:sp>
      <p:sp>
        <p:nvSpPr>
          <p:cNvPr id="17" name="Text 13"/>
          <p:cNvSpPr/>
          <p:nvPr/>
        </p:nvSpPr>
        <p:spPr>
          <a:xfrm>
            <a:off x="3350419" y="2028044"/>
            <a:ext cx="2565321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spc="-7" kern="0" dirty="0">
                <a:solidFill>
                  <a:srgbClr val="F5EFE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Extend with Plugins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350419" y="2325179"/>
            <a:ext cx="2443163" cy="532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B5A9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new novel sources in seconds. Lua-based plugins install directly from the app — no APK updates needed. Use the official repo or host your own.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350419" y="2884624"/>
            <a:ext cx="263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github.com/HnDK0/external-sources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350419" y="3113224"/>
            <a:ext cx="2443163" cy="16459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A89F9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In-app: Finder → Extensions → ⚙️ → paste repo URL</a:t>
            </a:r>
            <a:endParaRPr lang="en-US" sz="675" dirty="0"/>
          </a:p>
        </p:txBody>
      </p:sp>
      <p:sp>
        <p:nvSpPr>
          <p:cNvPr id="21" name="Text 17"/>
          <p:cNvSpPr/>
          <p:nvPr/>
        </p:nvSpPr>
        <p:spPr>
          <a:xfrm>
            <a:off x="5922169" y="1642281"/>
            <a:ext cx="7144" cy="1599530"/>
          </a:xfrm>
          <a:prstGeom prst="rect">
            <a:avLst/>
          </a:prstGeom>
          <a:solidFill>
            <a:srgbClr val="4A46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057900" y="164228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C8821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2813" dirty="0"/>
          </a:p>
        </p:txBody>
      </p:sp>
      <p:sp>
        <p:nvSpPr>
          <p:cNvPr id="23" name="Text 19"/>
          <p:cNvSpPr/>
          <p:nvPr/>
        </p:nvSpPr>
        <p:spPr>
          <a:xfrm>
            <a:off x="6057900" y="2028044"/>
            <a:ext cx="2863386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spc="-7" kern="0" dirty="0">
                <a:solidFill>
                  <a:srgbClr val="F5EFE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Contribute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057900" y="2325179"/>
            <a:ext cx="2443163" cy="532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800" dirty="0">
                <a:solidFill>
                  <a:srgbClr val="B5A9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Pull requests welcome. Fix source parsers, improve UI, optimize database, add translations. Open issues first for major changes.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057900" y="2884624"/>
            <a:ext cx="263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A6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github.com/Parasgaming122/NoveLA/issues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057900" y="3113224"/>
            <a:ext cx="2443163" cy="16459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A89F9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 stack: Kotlin · Compose · Hilt · Room · LuaJ</a:t>
            </a:r>
            <a:endParaRPr lang="en-US" sz="675" dirty="0"/>
          </a:p>
        </p:txBody>
      </p:sp>
      <p:sp>
        <p:nvSpPr>
          <p:cNvPr id="27" name="Text 23"/>
          <p:cNvSpPr/>
          <p:nvPr/>
        </p:nvSpPr>
        <p:spPr>
          <a:xfrm>
            <a:off x="514350" y="4270623"/>
            <a:ext cx="8115300" cy="7144"/>
          </a:xfrm>
          <a:prstGeom prst="rect">
            <a:avLst/>
          </a:prstGeom>
          <a:solidFill>
            <a:srgbClr val="4A46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14350" y="4377779"/>
            <a:ext cx="8115300" cy="19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8"/>
              </a:lnSpc>
              <a:buNone/>
            </a:pPr>
            <a:r>
              <a:rPr lang="en-US" sz="1013" i="1" dirty="0">
                <a:solidFill>
                  <a:srgbClr val="B5A99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“Free and open source web novel reader for Android.”</a:t>
            </a:r>
            <a:endParaRPr lang="en-US" sz="1013" dirty="0"/>
          </a:p>
        </p:txBody>
      </p:sp>
      <p:sp>
        <p:nvSpPr>
          <p:cNvPr id="29" name="Text 25"/>
          <p:cNvSpPr/>
          <p:nvPr/>
        </p:nvSpPr>
        <p:spPr>
          <a:xfrm>
            <a:off x="189738" y="4614863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7A726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GPL-3.0 · Made with readers, for readers.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2026-07-13T14:26:49Z</dcterms:created>
  <dcterms:modified xsi:type="dcterms:W3CDTF">2026-07-13T14:26:49Z</dcterms:modified>
</cp:coreProperties>
</file>